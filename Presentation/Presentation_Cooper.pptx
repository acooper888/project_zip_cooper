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1"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25B8C1C-BC60-4467-A902-CF52E8563505}" v="9" dt="2025-11-14T20:35:51.949"/>
    <p1510:client id="{F255B59A-9835-41D1-937D-629CF6E5A55A}" v="5" dt="2025-11-16T19:06:10.6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11/16/2025</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319479009"/>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11/16/2025</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71328402"/>
      </p:ext>
    </p:extLst>
  </p:cSld>
  <p:clrMap bg1="lt1" tx1="dk1" bg2="lt2" tx2="dk2" accent1="accent1" accent2="accent2" accent3="accent3" accent4="accent4" accent5="accent5" accent6="accent6" hlink="hlink" folHlink="folHlink"/>
  <p:sldLayoutIdLst>
    <p:sldLayoutId id="2147483750" r:id="rId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DEF92653-5D6D-47E6-8744-0DAF76E049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800102" y="960594"/>
            <a:ext cx="5828114" cy="4936812"/>
          </a:xfrm>
        </p:spPr>
        <p:txBody>
          <a:bodyPr anchor="ctr">
            <a:normAutofit/>
          </a:bodyPr>
          <a:lstStyle/>
          <a:p>
            <a:pPr algn="r"/>
            <a:r>
              <a:rPr lang="en-US" sz="6000" dirty="0"/>
              <a:t>Analyzing how developers interact with genres</a:t>
            </a:r>
          </a:p>
        </p:txBody>
      </p:sp>
      <p:sp>
        <p:nvSpPr>
          <p:cNvPr id="3" name="Subtitle 2"/>
          <p:cNvSpPr>
            <a:spLocks noGrp="1"/>
          </p:cNvSpPr>
          <p:nvPr>
            <p:ph type="subTitle" idx="1"/>
          </p:nvPr>
        </p:nvSpPr>
        <p:spPr>
          <a:xfrm>
            <a:off x="8002185" y="1390650"/>
            <a:ext cx="3019423" cy="4076700"/>
          </a:xfrm>
        </p:spPr>
        <p:txBody>
          <a:bodyPr anchor="ctr">
            <a:normAutofit/>
          </a:bodyPr>
          <a:lstStyle/>
          <a:p>
            <a:r>
              <a:rPr lang="en-US" sz="2200" dirty="0"/>
              <a:t>Adam Cooper</a:t>
            </a:r>
          </a:p>
        </p:txBody>
      </p:sp>
      <p:cxnSp>
        <p:nvCxnSpPr>
          <p:cNvPr id="19" name="Straight Connector 18">
            <a:extLst>
              <a:ext uri="{FF2B5EF4-FFF2-40B4-BE49-F238E27FC236}">
                <a16:creationId xmlns:a16="http://schemas.microsoft.com/office/drawing/2014/main" id="{9CA98CE3-81A7-4FFE-A047-9AA65998D87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315200" y="1733549"/>
            <a:ext cx="0" cy="3390901"/>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37" name="Straight Connector 36">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39" name="Rectangle 38">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E882E7-5CEB-5EB7-247A-CFFFD3F8C689}"/>
              </a:ext>
            </a:extLst>
          </p:cNvPr>
          <p:cNvSpPr>
            <a:spLocks noGrp="1"/>
          </p:cNvSpPr>
          <p:nvPr>
            <p:ph type="ctrTitle"/>
          </p:nvPr>
        </p:nvSpPr>
        <p:spPr>
          <a:xfrm>
            <a:off x="704088" y="904729"/>
            <a:ext cx="4206240" cy="1821525"/>
          </a:xfrm>
        </p:spPr>
        <p:txBody>
          <a:bodyPr vert="horz" lIns="91440" tIns="45720" rIns="91440" bIns="45720" rtlCol="0" anchor="t">
            <a:normAutofit/>
          </a:bodyPr>
          <a:lstStyle/>
          <a:p>
            <a:r>
              <a:rPr lang="en-US" sz="4000"/>
              <a:t>Summary of Data</a:t>
            </a:r>
          </a:p>
        </p:txBody>
      </p:sp>
      <p:cxnSp>
        <p:nvCxnSpPr>
          <p:cNvPr id="40" name="Straight Connector 39">
            <a:extLst>
              <a:ext uri="{FF2B5EF4-FFF2-40B4-BE49-F238E27FC236}">
                <a16:creationId xmlns:a16="http://schemas.microsoft.com/office/drawing/2014/main" id="{C19EF34C-5622-413F-9C9F-AC937E306E7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4AAA1908-0B40-92BE-52AB-8060CA213A49}"/>
              </a:ext>
            </a:extLst>
          </p:cNvPr>
          <p:cNvSpPr txBox="1"/>
          <p:nvPr/>
        </p:nvSpPr>
        <p:spPr>
          <a:xfrm>
            <a:off x="5123536" y="827108"/>
            <a:ext cx="6418727" cy="1773893"/>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Autofit/>
          </a:bodyPr>
          <a:lstStyle/>
          <a:p>
            <a:pPr indent="-228600">
              <a:spcAft>
                <a:spcPts val="600"/>
              </a:spcAft>
              <a:buFont typeface="Arial" panose="020B0604020202020204" pitchFamily="34" charset="0"/>
              <a:buChar char="•"/>
            </a:pPr>
            <a:r>
              <a:rPr lang="en-US" sz="1200" dirty="0"/>
              <a:t>Data Dimensions: 774 x 5</a:t>
            </a:r>
          </a:p>
          <a:p>
            <a:pPr indent="-228600">
              <a:spcAft>
                <a:spcPts val="600"/>
              </a:spcAft>
              <a:buFont typeface="Arial" panose="020B0604020202020204" pitchFamily="34" charset="0"/>
              <a:buChar char="•"/>
            </a:pPr>
            <a:endParaRPr lang="en-US" sz="1200" dirty="0"/>
          </a:p>
          <a:p>
            <a:pPr indent="-228600">
              <a:spcAft>
                <a:spcPts val="600"/>
              </a:spcAft>
              <a:buFont typeface="Arial" panose="020B0604020202020204" pitchFamily="34" charset="0"/>
              <a:buChar char="•"/>
            </a:pPr>
            <a:r>
              <a:rPr lang="en-US" sz="1200" dirty="0"/>
              <a:t>Cleaned: All null values and five columns</a:t>
            </a:r>
          </a:p>
          <a:p>
            <a:pPr indent="-228600">
              <a:spcAft>
                <a:spcPts val="600"/>
              </a:spcAft>
              <a:buFont typeface="Arial" panose="020B0604020202020204" pitchFamily="34" charset="0"/>
              <a:buChar char="•"/>
            </a:pPr>
            <a:endParaRPr lang="en-US" sz="1200" dirty="0"/>
          </a:p>
          <a:p>
            <a:pPr indent="-228600">
              <a:spcAft>
                <a:spcPts val="600"/>
              </a:spcAft>
              <a:buFont typeface="Arial" panose="020B0604020202020204" pitchFamily="34" charset="0"/>
              <a:buChar char="•"/>
            </a:pPr>
            <a:r>
              <a:rPr lang="en-US" sz="1200" dirty="0"/>
              <a:t>Variables left after cleaning: Title, User Score, Date, Developer, Genre</a:t>
            </a:r>
          </a:p>
          <a:p>
            <a:pPr indent="-228600">
              <a:spcAft>
                <a:spcPts val="600"/>
              </a:spcAft>
              <a:buFont typeface="Arial" panose="020B0604020202020204" pitchFamily="34" charset="0"/>
              <a:buChar char="•"/>
            </a:pPr>
            <a:endParaRPr lang="en-US" sz="1200" dirty="0"/>
          </a:p>
          <a:p>
            <a:pPr indent="-228600">
              <a:spcAft>
                <a:spcPts val="600"/>
              </a:spcAft>
              <a:buFont typeface="Arial" panose="020B0604020202020204" pitchFamily="34" charset="0"/>
              <a:buChar char="•"/>
            </a:pPr>
            <a:r>
              <a:rPr lang="en-US" sz="1200" dirty="0"/>
              <a:t>Variables of Interest: Developers and Genres</a:t>
            </a:r>
          </a:p>
          <a:p>
            <a:pPr indent="-228600">
              <a:spcAft>
                <a:spcPts val="600"/>
              </a:spcAft>
              <a:buFont typeface="Arial" panose="020B0604020202020204" pitchFamily="34" charset="0"/>
              <a:buChar char="•"/>
            </a:pPr>
            <a:endParaRPr lang="en-US" sz="1000"/>
          </a:p>
          <a:p>
            <a:pPr indent="-228600">
              <a:spcAft>
                <a:spcPts val="600"/>
              </a:spcAft>
              <a:buFont typeface="Arial" panose="020B0604020202020204" pitchFamily="34" charset="0"/>
              <a:buChar char="•"/>
            </a:pPr>
            <a:endParaRPr lang="en-US" sz="1000"/>
          </a:p>
        </p:txBody>
      </p:sp>
      <p:pic>
        <p:nvPicPr>
          <p:cNvPr id="3" name="Picture 2" descr="A graph with red bars&#10;&#10;AI-generated content may be incorrect.">
            <a:extLst>
              <a:ext uri="{FF2B5EF4-FFF2-40B4-BE49-F238E27FC236}">
                <a16:creationId xmlns:a16="http://schemas.microsoft.com/office/drawing/2014/main" id="{5FA735A7-C58D-A540-A830-FFB3A6F7BDBD}"/>
              </a:ext>
            </a:extLst>
          </p:cNvPr>
          <p:cNvPicPr>
            <a:picLocks noChangeAspect="1"/>
          </p:cNvPicPr>
          <p:nvPr/>
        </p:nvPicPr>
        <p:blipFill>
          <a:blip r:embed="rId2"/>
          <a:srcRect t="285" r="406" b="1425"/>
          <a:stretch>
            <a:fillRect/>
          </a:stretch>
        </p:blipFill>
        <p:spPr>
          <a:xfrm>
            <a:off x="800100" y="2745288"/>
            <a:ext cx="5113213" cy="3604541"/>
          </a:xfrm>
          <a:prstGeom prst="rect">
            <a:avLst/>
          </a:prstGeom>
        </p:spPr>
      </p:pic>
      <p:pic>
        <p:nvPicPr>
          <p:cNvPr id="4" name="Picture 3">
            <a:extLst>
              <a:ext uri="{FF2B5EF4-FFF2-40B4-BE49-F238E27FC236}">
                <a16:creationId xmlns:a16="http://schemas.microsoft.com/office/drawing/2014/main" id="{AC784A1F-E0F9-DFE5-6BD8-EC3291973694}"/>
              </a:ext>
            </a:extLst>
          </p:cNvPr>
          <p:cNvPicPr>
            <a:picLocks noChangeAspect="1"/>
          </p:cNvPicPr>
          <p:nvPr/>
        </p:nvPicPr>
        <p:blipFill>
          <a:blip r:embed="rId3"/>
          <a:srcRect t="563" r="450" b="1690"/>
          <a:stretch>
            <a:fillRect/>
          </a:stretch>
        </p:blipFill>
        <p:spPr>
          <a:xfrm>
            <a:off x="6230498" y="2724412"/>
            <a:ext cx="5159154" cy="3618362"/>
          </a:xfrm>
          <a:prstGeom prst="rect">
            <a:avLst/>
          </a:prstGeom>
        </p:spPr>
      </p:pic>
      <p:cxnSp>
        <p:nvCxnSpPr>
          <p:cNvPr id="41" name="Straight Connector 40">
            <a:extLst>
              <a:ext uri="{FF2B5EF4-FFF2-40B4-BE49-F238E27FC236}">
                <a16:creationId xmlns:a16="http://schemas.microsoft.com/office/drawing/2014/main" id="{28549954-3C0C-48B7-9BE6-9B32C39D044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538003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CFC14B4-079F-029C-DC7A-A6FBA996459B}"/>
            </a:ext>
          </a:extLst>
        </p:cNvPr>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E53615EE-C559-4E03-999B-5477F1626F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A46B970-CF41-D85A-CCE5-A1A77299F416}"/>
              </a:ext>
            </a:extLst>
          </p:cNvPr>
          <p:cNvSpPr>
            <a:spLocks noGrp="1"/>
          </p:cNvSpPr>
          <p:nvPr>
            <p:ph type="ctrTitle"/>
          </p:nvPr>
        </p:nvSpPr>
        <p:spPr>
          <a:xfrm>
            <a:off x="700088" y="909637"/>
            <a:ext cx="5958216" cy="1316736"/>
          </a:xfrm>
        </p:spPr>
        <p:txBody>
          <a:bodyPr vert="horz" lIns="91440" tIns="45720" rIns="91440" bIns="45720" rtlCol="0" anchor="t">
            <a:normAutofit/>
          </a:bodyPr>
          <a:lstStyle/>
          <a:p>
            <a:r>
              <a:rPr lang="en-US" sz="4000"/>
              <a:t>Statistics</a:t>
            </a:r>
          </a:p>
        </p:txBody>
      </p:sp>
      <p:cxnSp>
        <p:nvCxnSpPr>
          <p:cNvPr id="16" name="Straight Connector 15">
            <a:extLst>
              <a:ext uri="{FF2B5EF4-FFF2-40B4-BE49-F238E27FC236}">
                <a16:creationId xmlns:a16="http://schemas.microsoft.com/office/drawing/2014/main" id="{799A8EBD-049C-48E6-97ED-C9102D78FC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2376"/>
            <a:ext cx="57150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672FE654-4F52-8F61-7199-AE20E8B663D9}"/>
              </a:ext>
            </a:extLst>
          </p:cNvPr>
          <p:cNvSpPr txBox="1"/>
          <p:nvPr/>
        </p:nvSpPr>
        <p:spPr>
          <a:xfrm>
            <a:off x="700088" y="2235251"/>
            <a:ext cx="5958216" cy="3713109"/>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indent="-228600">
              <a:lnSpc>
                <a:spcPct val="110000"/>
              </a:lnSpc>
              <a:spcAft>
                <a:spcPts val="600"/>
              </a:spcAft>
              <a:buFont typeface="Arial" panose="020B0604020202020204" pitchFamily="34" charset="0"/>
              <a:buChar char="•"/>
            </a:pPr>
            <a:r>
              <a:rPr lang="en-US" dirty="0"/>
              <a:t>There was a notable outlier: Pokémon HOME did poorly</a:t>
            </a:r>
            <a:endParaRPr lang="en-US"/>
          </a:p>
          <a:p>
            <a:pPr indent="-228600">
              <a:lnSpc>
                <a:spcPct val="110000"/>
              </a:lnSpc>
              <a:spcAft>
                <a:spcPts val="600"/>
              </a:spcAft>
              <a:buFont typeface="Arial" panose="020B0604020202020204" pitchFamily="34" charset="0"/>
              <a:buChar char="•"/>
            </a:pPr>
            <a:endParaRPr lang="en-US"/>
          </a:p>
          <a:p>
            <a:pPr indent="-228600">
              <a:lnSpc>
                <a:spcPct val="110000"/>
              </a:lnSpc>
              <a:spcAft>
                <a:spcPts val="600"/>
              </a:spcAft>
              <a:buFont typeface="Arial" panose="020B0604020202020204" pitchFamily="34" charset="0"/>
              <a:buChar char="•"/>
            </a:pPr>
            <a:r>
              <a:rPr lang="en-US" dirty="0"/>
              <a:t>An interesting part of this data set is that a lot of editing had to be done for it to work right.</a:t>
            </a:r>
            <a:endParaRPr lang="en-US"/>
          </a:p>
          <a:p>
            <a:pPr indent="-228600">
              <a:lnSpc>
                <a:spcPct val="110000"/>
              </a:lnSpc>
              <a:spcAft>
                <a:spcPts val="600"/>
              </a:spcAft>
              <a:buFont typeface="Arial" panose="020B0604020202020204" pitchFamily="34" charset="0"/>
              <a:buChar char="•"/>
            </a:pPr>
            <a:endParaRPr lang="en-US"/>
          </a:p>
          <a:p>
            <a:pPr indent="-228600">
              <a:lnSpc>
                <a:spcPct val="110000"/>
              </a:lnSpc>
              <a:spcAft>
                <a:spcPts val="600"/>
              </a:spcAft>
              <a:buFont typeface="Arial" panose="020B0604020202020204" pitchFamily="34" charset="0"/>
              <a:buChar char="•"/>
            </a:pPr>
            <a:r>
              <a:rPr lang="en-US" dirty="0"/>
              <a:t>There were many, many variables with null values.</a:t>
            </a:r>
          </a:p>
          <a:p>
            <a:pPr indent="-228600">
              <a:lnSpc>
                <a:spcPct val="110000"/>
              </a:lnSpc>
              <a:spcAft>
                <a:spcPts val="600"/>
              </a:spcAft>
              <a:buFont typeface="Arial" panose="020B0604020202020204" pitchFamily="34" charset="0"/>
              <a:buChar char="•"/>
            </a:pPr>
            <a:endParaRPr lang="en-US"/>
          </a:p>
          <a:p>
            <a:pPr indent="-228600">
              <a:lnSpc>
                <a:spcPct val="110000"/>
              </a:lnSpc>
              <a:spcAft>
                <a:spcPts val="600"/>
              </a:spcAft>
              <a:buFont typeface="Arial" panose="020B0604020202020204" pitchFamily="34" charset="0"/>
              <a:buChar char="•"/>
            </a:pPr>
            <a:r>
              <a:rPr lang="en-US" dirty="0"/>
              <a:t>Comparing each vector in each genre for each developer to get the result.</a:t>
            </a:r>
            <a:endParaRPr lang="en-US"/>
          </a:p>
        </p:txBody>
      </p:sp>
      <p:cxnSp>
        <p:nvCxnSpPr>
          <p:cNvPr id="18" name="Straight Connector 17">
            <a:extLst>
              <a:ext uri="{FF2B5EF4-FFF2-40B4-BE49-F238E27FC236}">
                <a16:creationId xmlns:a16="http://schemas.microsoft.com/office/drawing/2014/main" id="{07AB7C5C-C091-4C25-B1BD-93E2F6948C9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8546"/>
            <a:ext cx="5715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3" name="Picture 2" descr="A graph of a number of bars&#10;&#10;AI-generated content may be incorrect.">
            <a:extLst>
              <a:ext uri="{FF2B5EF4-FFF2-40B4-BE49-F238E27FC236}">
                <a16:creationId xmlns:a16="http://schemas.microsoft.com/office/drawing/2014/main" id="{C9270A39-5ADD-FE7F-1ACB-79FD6B32946C}"/>
              </a:ext>
            </a:extLst>
          </p:cNvPr>
          <p:cNvPicPr>
            <a:picLocks noChangeAspect="1"/>
          </p:cNvPicPr>
          <p:nvPr/>
        </p:nvPicPr>
        <p:blipFill>
          <a:blip r:embed="rId2"/>
          <a:stretch>
            <a:fillRect/>
          </a:stretch>
        </p:blipFill>
        <p:spPr>
          <a:xfrm>
            <a:off x="6659879" y="3474164"/>
            <a:ext cx="5447329" cy="3263140"/>
          </a:xfrm>
          <a:prstGeom prst="rect">
            <a:avLst/>
          </a:prstGeom>
        </p:spPr>
      </p:pic>
      <p:pic>
        <p:nvPicPr>
          <p:cNvPr id="7" name="Picture 6">
            <a:extLst>
              <a:ext uri="{FF2B5EF4-FFF2-40B4-BE49-F238E27FC236}">
                <a16:creationId xmlns:a16="http://schemas.microsoft.com/office/drawing/2014/main" id="{3780A384-5501-57D5-398F-2A34F4FAA3B1}"/>
              </a:ext>
            </a:extLst>
          </p:cNvPr>
          <p:cNvPicPr>
            <a:picLocks noChangeAspect="1"/>
          </p:cNvPicPr>
          <p:nvPr/>
        </p:nvPicPr>
        <p:blipFill>
          <a:blip r:embed="rId3"/>
          <a:stretch>
            <a:fillRect/>
          </a:stretch>
        </p:blipFill>
        <p:spPr>
          <a:xfrm>
            <a:off x="6554118" y="1434"/>
            <a:ext cx="5638800" cy="3476625"/>
          </a:xfrm>
          <a:prstGeom prst="rect">
            <a:avLst/>
          </a:prstGeom>
        </p:spPr>
      </p:pic>
    </p:spTree>
    <p:extLst>
      <p:ext uri="{BB962C8B-B14F-4D97-AF65-F5344CB8AC3E}">
        <p14:creationId xmlns:p14="http://schemas.microsoft.com/office/powerpoint/2010/main" val="27963086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61FA505-8C66-E94B-B138-A2A9D5535613}"/>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A6894E-DDB9-570D-D4E7-25C0CEFDD256}"/>
              </a:ext>
            </a:extLst>
          </p:cNvPr>
          <p:cNvSpPr>
            <a:spLocks noGrp="1"/>
          </p:cNvSpPr>
          <p:nvPr>
            <p:ph type="ctrTitle"/>
          </p:nvPr>
        </p:nvSpPr>
        <p:spPr>
          <a:xfrm>
            <a:off x="8138159" y="1177348"/>
            <a:ext cx="3330906" cy="3441068"/>
          </a:xfrm>
        </p:spPr>
        <p:txBody>
          <a:bodyPr vert="horz" lIns="91440" tIns="45720" rIns="91440" bIns="45720" rtlCol="0" anchor="t">
            <a:normAutofit/>
          </a:bodyPr>
          <a:lstStyle/>
          <a:p>
            <a:r>
              <a:rPr lang="en-US" sz="4200"/>
              <a:t>Visuals / Analysis</a:t>
            </a:r>
          </a:p>
        </p:txBody>
      </p:sp>
      <p:sp>
        <p:nvSpPr>
          <p:cNvPr id="5" name="TextBox 4">
            <a:extLst>
              <a:ext uri="{FF2B5EF4-FFF2-40B4-BE49-F238E27FC236}">
                <a16:creationId xmlns:a16="http://schemas.microsoft.com/office/drawing/2014/main" id="{69B8728E-5622-B10F-6E1E-C03ADA98B88F}"/>
              </a:ext>
            </a:extLst>
          </p:cNvPr>
          <p:cNvSpPr txBox="1"/>
          <p:nvPr/>
        </p:nvSpPr>
        <p:spPr>
          <a:xfrm>
            <a:off x="9086102" y="3669352"/>
            <a:ext cx="879840" cy="476861"/>
          </a:xfrm>
          <a:prstGeom prst="rect">
            <a:avLst/>
          </a:prstGeom>
        </p:spPr>
        <p:txBody>
          <a:bodyPr rot="0" spcFirstLastPara="0" vertOverflow="overflow" horzOverflow="overflow" vert="horz" lIns="91440" tIns="45720" rIns="91440" bIns="45720" numCol="1" spcCol="0" rtlCol="0" fromWordArt="0" anchor="b" anchorCtr="0" forceAA="0" compatLnSpc="1">
            <a:prstTxWarp prst="textNoShape">
              <a:avLst/>
            </a:prstTxWarp>
            <a:noAutofit/>
          </a:bodyPr>
          <a:lstStyle/>
          <a:p>
            <a:pPr>
              <a:lnSpc>
                <a:spcPct val="110000"/>
              </a:lnSpc>
              <a:spcBef>
                <a:spcPts val="1000"/>
              </a:spcBef>
            </a:pPr>
            <a:r>
              <a:rPr lang="en-US" sz="3200" dirty="0"/>
              <a:t>No.</a:t>
            </a:r>
          </a:p>
        </p:txBody>
      </p:sp>
      <p:cxnSp>
        <p:nvCxnSpPr>
          <p:cNvPr id="12" name="Straight Connector 11">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3" name="Picture 2" descr="A graph of a bar with a red bar and a red bar&#10;&#10;AI-generated content may be incorrect.">
            <a:extLst>
              <a:ext uri="{FF2B5EF4-FFF2-40B4-BE49-F238E27FC236}">
                <a16:creationId xmlns:a16="http://schemas.microsoft.com/office/drawing/2014/main" id="{82D655F2-806A-8B9C-5490-82D2A25562CB}"/>
              </a:ext>
            </a:extLst>
          </p:cNvPr>
          <p:cNvPicPr>
            <a:picLocks noChangeAspect="1"/>
          </p:cNvPicPr>
          <p:nvPr/>
        </p:nvPicPr>
        <p:blipFill>
          <a:blip r:embed="rId2"/>
          <a:stretch>
            <a:fillRect/>
          </a:stretch>
        </p:blipFill>
        <p:spPr>
          <a:xfrm>
            <a:off x="722935" y="866706"/>
            <a:ext cx="7179970" cy="5128549"/>
          </a:xfrm>
          <a:prstGeom prst="rect">
            <a:avLst/>
          </a:prstGeom>
        </p:spPr>
      </p:pic>
      <p:cxnSp>
        <p:nvCxnSpPr>
          <p:cNvPr id="14" name="Straight Connector 13">
            <a:extLst>
              <a:ext uri="{FF2B5EF4-FFF2-40B4-BE49-F238E27FC236}">
                <a16:creationId xmlns:a16="http://schemas.microsoft.com/office/drawing/2014/main" id="{D7CC41EB-2D81-4303-9171-6401B388BA3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4885"/>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9538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4A1134F-7AE5-7AB4-8C20-0531BF56DF0E}"/>
            </a:ext>
          </a:extLst>
        </p:cNvPr>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22" name="Rectangle 21">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3C87442-55A0-1D04-4E12-B29820F73F77}"/>
              </a:ext>
            </a:extLst>
          </p:cNvPr>
          <p:cNvSpPr>
            <a:spLocks noGrp="1"/>
          </p:cNvSpPr>
          <p:nvPr>
            <p:ph type="ctrTitle"/>
          </p:nvPr>
        </p:nvSpPr>
        <p:spPr>
          <a:xfrm>
            <a:off x="6696186" y="909637"/>
            <a:ext cx="4800600" cy="1307592"/>
          </a:xfrm>
        </p:spPr>
        <p:txBody>
          <a:bodyPr vert="horz" lIns="91440" tIns="45720" rIns="91440" bIns="45720" rtlCol="0" anchor="t">
            <a:normAutofit/>
          </a:bodyPr>
          <a:lstStyle/>
          <a:p>
            <a:r>
              <a:rPr lang="en-US" sz="4000"/>
              <a:t>Results</a:t>
            </a:r>
          </a:p>
        </p:txBody>
      </p:sp>
      <p:pic>
        <p:nvPicPr>
          <p:cNvPr id="3" name="Picture 2" descr="A graph of a bar with a red rectangle&#10;&#10;AI-generated content may be incorrect.">
            <a:extLst>
              <a:ext uri="{FF2B5EF4-FFF2-40B4-BE49-F238E27FC236}">
                <a16:creationId xmlns:a16="http://schemas.microsoft.com/office/drawing/2014/main" id="{7FA5BA21-A42A-BA32-F6CF-8A049F627216}"/>
              </a:ext>
            </a:extLst>
          </p:cNvPr>
          <p:cNvPicPr>
            <a:picLocks noChangeAspect="1"/>
          </p:cNvPicPr>
          <p:nvPr/>
        </p:nvPicPr>
        <p:blipFill>
          <a:blip r:embed="rId2"/>
          <a:srcRect l="18489" r="27121"/>
          <a:stretch>
            <a:fillRect/>
          </a:stretch>
        </p:blipFill>
        <p:spPr>
          <a:xfrm>
            <a:off x="20" y="10"/>
            <a:ext cx="6044164" cy="6857990"/>
          </a:xfrm>
          <a:prstGeom prst="rect">
            <a:avLst/>
          </a:prstGeom>
        </p:spPr>
      </p:pic>
      <p:cxnSp>
        <p:nvCxnSpPr>
          <p:cNvPr id="23" name="Straight Connector 22">
            <a:extLst>
              <a:ext uri="{FF2B5EF4-FFF2-40B4-BE49-F238E27FC236}">
                <a16:creationId xmlns:a16="http://schemas.microsoft.com/office/drawing/2014/main" id="{511FC409-B3C2-4F68-865C-C5333D6F27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81300" y="723900"/>
            <a:ext cx="4610075"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CBC9A906-C945-534F-D8C9-DDFD8A32122C}"/>
              </a:ext>
            </a:extLst>
          </p:cNvPr>
          <p:cNvSpPr txBox="1"/>
          <p:nvPr/>
        </p:nvSpPr>
        <p:spPr>
          <a:xfrm>
            <a:off x="6696186" y="2221992"/>
            <a:ext cx="4800600" cy="3739896"/>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indent="-228600">
              <a:lnSpc>
                <a:spcPct val="110000"/>
              </a:lnSpc>
              <a:spcAft>
                <a:spcPts val="600"/>
              </a:spcAft>
              <a:buFont typeface="Arial" panose="020B0604020202020204" pitchFamily="34" charset="0"/>
              <a:buChar char="•"/>
            </a:pPr>
            <a:r>
              <a:rPr lang="en-US" dirty="0"/>
              <a:t>So, no. There is no consistency between developers and genres. If I had to guess why, it is likely game companies would prefer to work with developers more consistently on gameplay similarities as opposed to genre similarities. That would still normally result in some overlap... but we do see that with a 25% consistency check. </a:t>
            </a:r>
            <a:endParaRPr lang="en-US"/>
          </a:p>
        </p:txBody>
      </p:sp>
      <p:cxnSp>
        <p:nvCxnSpPr>
          <p:cNvPr id="24" name="Straight Connector 23">
            <a:extLst>
              <a:ext uri="{FF2B5EF4-FFF2-40B4-BE49-F238E27FC236}">
                <a16:creationId xmlns:a16="http://schemas.microsoft.com/office/drawing/2014/main" id="{B810270D-76A7-44B3-9746-7EDF5788602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81300" y="6142781"/>
            <a:ext cx="461007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9331095"/>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5</Slides>
  <Notes>0</Notes>
  <HiddenSlides>0</HiddenSlides>
  <MMClips>0</MMClip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ChronicleVTI</vt:lpstr>
      <vt:lpstr>Analyzing how developers interact with genres</vt:lpstr>
      <vt:lpstr>Summary of Data</vt:lpstr>
      <vt:lpstr>Statistics</vt:lpstr>
      <vt:lpstr>Visuals / Analysis</vt:lpstr>
      <vt:lpstr>Results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144</cp:revision>
  <dcterms:created xsi:type="dcterms:W3CDTF">2025-11-12T18:02:54Z</dcterms:created>
  <dcterms:modified xsi:type="dcterms:W3CDTF">2025-11-17T00:42:38Z</dcterms:modified>
</cp:coreProperties>
</file>